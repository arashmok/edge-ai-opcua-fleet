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18872"/>
            <a:ext cx="11457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Centralized Fleet Architecture: OPC UA PubSub over MQTT (DGX Spark gateway, Raspberry Pi fleet)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365760" y="530352"/>
            <a:ext cx="11457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OPC UA endpoint on the Spark models the whole fleet. Robots publish state and subscribe to commands over an MQTT broker, all within OPC UA.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65760" y="896112"/>
            <a:ext cx="2651760" cy="475488"/>
          </a:xfrm>
          <a:prstGeom prst="roundRect">
            <a:avLst>
              <a:gd name="adj" fmla="val 9615"/>
            </a:avLst>
          </a:prstGeom>
          <a:solidFill>
            <a:srgbClr val="DAE3F3"/>
          </a:solidFill>
          <a:ln w="12700">
            <a:solidFill>
              <a:srgbClr val="2F5496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 platform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services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300984" y="896112"/>
            <a:ext cx="2651760" cy="475488"/>
          </a:xfrm>
          <a:prstGeom prst="roundRect">
            <a:avLst>
              <a:gd name="adj" fmla="val 9615"/>
            </a:avLst>
          </a:prstGeom>
          <a:solidFill>
            <a:srgbClr val="DAE3F3"/>
          </a:solidFill>
          <a:ln w="12700">
            <a:solidFill>
              <a:srgbClr val="2F5496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 and apps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Manufacturing exec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236208" y="896112"/>
            <a:ext cx="2651760" cy="475488"/>
          </a:xfrm>
          <a:prstGeom prst="roundRect">
            <a:avLst>
              <a:gd name="adj" fmla="val 9615"/>
            </a:avLst>
          </a:prstGeom>
          <a:solidFill>
            <a:srgbClr val="DAE3F3"/>
          </a:solidFill>
          <a:ln w="12700">
            <a:solidFill>
              <a:srgbClr val="2F5496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dashboards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71432" y="896112"/>
            <a:ext cx="2651760" cy="475488"/>
          </a:xfrm>
          <a:prstGeom prst="roundRect">
            <a:avLst>
              <a:gd name="adj" fmla="val 9615"/>
            </a:avLst>
          </a:prstGeom>
          <a:solidFill>
            <a:srgbClr val="DAE3F3"/>
          </a:solidFill>
          <a:ln w="12700">
            <a:solidFill>
              <a:srgbClr val="2F5496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UaExpert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OPC UA browser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691640" y="1389888"/>
            <a:ext cx="0" cy="164592"/>
          </a:xfrm>
          <a:prstGeom prst="line">
            <a:avLst/>
          </a:prstGeom>
          <a:noFill/>
          <a:ln w="19050">
            <a:solidFill>
              <a:srgbClr val="595959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626864" y="1389888"/>
            <a:ext cx="0" cy="164592"/>
          </a:xfrm>
          <a:prstGeom prst="line">
            <a:avLst/>
          </a:prstGeom>
          <a:noFill/>
          <a:ln w="19050">
            <a:solidFill>
              <a:srgbClr val="595959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7562088" y="1389888"/>
            <a:ext cx="0" cy="164592"/>
          </a:xfrm>
          <a:prstGeom prst="line">
            <a:avLst/>
          </a:prstGeom>
          <a:noFill/>
          <a:ln w="19050">
            <a:solidFill>
              <a:srgbClr val="595959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10497312" y="1389888"/>
            <a:ext cx="0" cy="164592"/>
          </a:xfrm>
          <a:prstGeom prst="line">
            <a:avLst/>
          </a:prstGeom>
          <a:noFill/>
          <a:ln w="19050">
            <a:solidFill>
              <a:srgbClr val="595959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365760" y="1572768"/>
            <a:ext cx="11457432" cy="365760"/>
          </a:xfrm>
          <a:prstGeom prst="roundRect">
            <a:avLst>
              <a:gd name="adj" fmla="val 12500"/>
            </a:avLst>
          </a:prstGeom>
          <a:solidFill>
            <a:srgbClr val="4472C4"/>
          </a:solidFill>
          <a:ln w="12700">
            <a:solidFill>
              <a:srgbClr val="2F5496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OPC UA endpoint      opc.tcp  port 4840      hosted on the DGX Spark, models the whole fleet (Arm1..ArmN)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1828800" y="1956816"/>
            <a:ext cx="0" cy="128016"/>
          </a:xfrm>
          <a:prstGeom prst="line">
            <a:avLst/>
          </a:prstGeom>
          <a:noFill/>
          <a:ln w="19050">
            <a:solidFill>
              <a:srgbClr val="595959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65760" y="2084832"/>
            <a:ext cx="11457432" cy="1115568"/>
          </a:xfrm>
          <a:prstGeom prst="roundRect">
            <a:avLst>
              <a:gd name="adj" fmla="val 4918"/>
            </a:avLst>
          </a:prstGeom>
          <a:solidFill>
            <a:srgbClr val="DEEBF7"/>
          </a:solidFill>
          <a:ln w="15875">
            <a:solidFill>
              <a:srgbClr val="2F549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103120"/>
            <a:ext cx="11457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DGX Spark   |   k3s server / edge gateway   (role=edge)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2468880"/>
            <a:ext cx="260604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5B9BD5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OPC UA server</a:t>
            </a: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fleet address space, Arm1..ArmN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374136" y="2468880"/>
            <a:ext cx="260604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5B9BD5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OPC UA PubSub</a:t>
            </a: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 MQTT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199632" y="2468880"/>
            <a:ext cx="260604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5B9BD5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AI inference</a:t>
            </a: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GPU, TensorRT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025128" y="2468880"/>
            <a:ext cx="260604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5B9BD5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ROS 2 / OPC UA bridge</a:t>
            </a: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080760" y="3200400"/>
            <a:ext cx="0" cy="128016"/>
          </a:xfrm>
          <a:prstGeom prst="line">
            <a:avLst/>
          </a:prstGeom>
          <a:noFill/>
          <a:ln w="19050">
            <a:solidFill>
              <a:srgbClr val="595959"/>
            </a:solidFill>
            <a:prstDash val="solid"/>
            <a:headEnd type="triangle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365760" y="3346704"/>
            <a:ext cx="11457432" cy="365760"/>
          </a:xfrm>
          <a:prstGeom prst="roundRect">
            <a:avLst>
              <a:gd name="adj" fmla="val 12500"/>
            </a:avLst>
          </a:prstGeom>
          <a:solidFill>
            <a:srgbClr val="ED7D31"/>
          </a:solidFill>
          <a:ln w="12700">
            <a:solidFill>
              <a:srgbClr val="C55A11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MQTT broker      OPC UA PubSub transport (over MQTT)      robots publish state / subscribe to commands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2148840" y="3712464"/>
            <a:ext cx="0" cy="201168"/>
          </a:xfrm>
          <a:prstGeom prst="line">
            <a:avLst/>
          </a:prstGeom>
          <a:noFill/>
          <a:ln w="19050">
            <a:solidFill>
              <a:srgbClr val="595959"/>
            </a:solidFill>
            <a:prstDash val="solid"/>
            <a:headEnd type="triangl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080760" y="3712464"/>
            <a:ext cx="0" cy="201168"/>
          </a:xfrm>
          <a:prstGeom prst="line">
            <a:avLst/>
          </a:prstGeom>
          <a:noFill/>
          <a:ln w="19050">
            <a:solidFill>
              <a:srgbClr val="595959"/>
            </a:solidFill>
            <a:prstDash val="solid"/>
            <a:headEnd type="triangl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10012680" y="3712464"/>
            <a:ext cx="0" cy="201168"/>
          </a:xfrm>
          <a:prstGeom prst="line">
            <a:avLst/>
          </a:prstGeom>
          <a:noFill/>
          <a:ln w="19050">
            <a:solidFill>
              <a:srgbClr val="595959"/>
            </a:solidFill>
            <a:prstDash val="solid"/>
            <a:headEnd type="triangl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365760" y="3931920"/>
            <a:ext cx="3566160" cy="1920240"/>
          </a:xfrm>
          <a:prstGeom prst="roundRect">
            <a:avLst>
              <a:gd name="adj" fmla="val 2857"/>
            </a:avLst>
          </a:prstGeom>
          <a:solidFill>
            <a:srgbClr val="E2EFDA"/>
          </a:solidFill>
          <a:ln w="15875">
            <a:solidFill>
              <a:srgbClr val="54823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95935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75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Arm 1  (Pi, k3s agent)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8640" y="4315968"/>
            <a:ext cx="3200400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70AD47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75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PubSub client</a:t>
            </a:r>
            <a:endParaRPr lang="en-US" sz="9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375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 state, sub cmd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48640" y="4828032"/>
            <a:ext cx="3200400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70AD47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75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ServoDriver + safe-stop</a:t>
            </a:r>
            <a:endParaRPr lang="en-US" sz="9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375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pigpio PWM, local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48640" y="5340096"/>
            <a:ext cx="3200400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70AD47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75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SG90 servos</a:t>
            </a:r>
            <a:endParaRPr lang="en-US" sz="9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375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base, pitch, reach, gripper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297680" y="3931920"/>
            <a:ext cx="3566160" cy="1920240"/>
          </a:xfrm>
          <a:prstGeom prst="roundRect">
            <a:avLst>
              <a:gd name="adj" fmla="val 2857"/>
            </a:avLst>
          </a:prstGeom>
          <a:solidFill>
            <a:srgbClr val="E2EFDA"/>
          </a:solidFill>
          <a:ln w="15875">
            <a:solidFill>
              <a:srgbClr val="54823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297680" y="395935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75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Arm 2  (Pi, k3s agent)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480560" y="4315968"/>
            <a:ext cx="3200400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70AD47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75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PubSub client</a:t>
            </a:r>
            <a:endParaRPr lang="en-US" sz="9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375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 state, sub cmd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480560" y="4828032"/>
            <a:ext cx="3200400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70AD47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75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ServoDriver + safe-stop</a:t>
            </a:r>
            <a:endParaRPr lang="en-US" sz="9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375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pigpio PWM, local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480560" y="5340096"/>
            <a:ext cx="3200400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70AD47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75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SG90 servos</a:t>
            </a:r>
            <a:endParaRPr lang="en-US" sz="9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375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base, pitch, reach, gripper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8229600" y="3931920"/>
            <a:ext cx="3566160" cy="1920240"/>
          </a:xfrm>
          <a:prstGeom prst="roundRect">
            <a:avLst>
              <a:gd name="adj" fmla="val 2857"/>
            </a:avLst>
          </a:prstGeom>
          <a:solidFill>
            <a:srgbClr val="E2EFDA"/>
          </a:solidFill>
          <a:ln w="15875">
            <a:solidFill>
              <a:srgbClr val="54823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229600" y="395935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75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Arm N  (Pi, k3s agent)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412480" y="4315968"/>
            <a:ext cx="3200400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70AD47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75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PubSub client</a:t>
            </a:r>
            <a:endParaRPr lang="en-US" sz="9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375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 state, sub cmd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8412480" y="4828032"/>
            <a:ext cx="3200400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70AD47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75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ServoDriver + safe-stop</a:t>
            </a:r>
            <a:endParaRPr lang="en-US" sz="9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375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pigpio PWM, local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8412480" y="5340096"/>
            <a:ext cx="3200400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70AD47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75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SG90 servos</a:t>
            </a:r>
            <a:endParaRPr lang="en-US" sz="9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375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base, pitch, reach, gripper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7863840" y="46634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. .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365760" y="5989320"/>
            <a:ext cx="11457432" cy="640080"/>
          </a:xfrm>
          <a:prstGeom prst="roundRect">
            <a:avLst>
              <a:gd name="adj" fmla="val 8571"/>
            </a:avLst>
          </a:prstGeom>
          <a:solidFill>
            <a:srgbClr val="FFF2CC"/>
          </a:solidFill>
          <a:ln w="15875">
            <a:solidFill>
              <a:srgbClr val="BF900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2920" y="601675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7F6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points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502920" y="623620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7F6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Spark hosts one OPC UA endpoint; OT apps browse the whole fleet in a single session.</a:t>
            </a:r>
            <a:endParaRPr lang="en-US" sz="800" dirty="0"/>
          </a:p>
          <a:p>
            <a:pPr algn="l" marL="342900" indent="-342900"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7F6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OPC UA PubSub over MQTT stays inside the OPC UA standard; the broker is its sanctioned transport.</a:t>
            </a:r>
            <a:endParaRPr lang="en-US" sz="800" dirty="0"/>
          </a:p>
          <a:p>
            <a:pPr algn="l" marL="342900" indent="-342900"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7F6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Robots never host an inbound socket; each publishes its state and subscribes to its own command topic.</a:t>
            </a:r>
            <a:endParaRPr lang="en-US" sz="800" dirty="0"/>
          </a:p>
          <a:p>
            <a:pPr algn="l" marL="342900" indent="-342900"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7F6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Safe-stop stays local on every Pi; k3s runs the control plane on the Spark and one agent per robot.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2026-07-18T10:06:31Z</dcterms:created>
  <dcterms:modified xsi:type="dcterms:W3CDTF">2026-07-18T10:06:31Z</dcterms:modified>
</cp:coreProperties>
</file>